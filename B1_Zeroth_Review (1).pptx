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4"/>
  </p:sldMasterIdLst>
  <p:notesMasterIdLst>
    <p:notesMasterId r:id="rId20"/>
  </p:notesMasterIdLst>
  <p:sldIdLst>
    <p:sldId id="257" r:id="rId5"/>
    <p:sldId id="258" r:id="rId6"/>
    <p:sldId id="259" r:id="rId7"/>
    <p:sldId id="284" r:id="rId8"/>
    <p:sldId id="261" r:id="rId9"/>
    <p:sldId id="364" r:id="rId10"/>
    <p:sldId id="383" r:id="rId11"/>
    <p:sldId id="384" r:id="rId12"/>
    <p:sldId id="379" r:id="rId13"/>
    <p:sldId id="382" r:id="rId14"/>
    <p:sldId id="370" r:id="rId15"/>
    <p:sldId id="375" r:id="rId16"/>
    <p:sldId id="372" r:id="rId17"/>
    <p:sldId id="360" r:id="rId18"/>
    <p:sldId id="357" r:id="rId19"/>
  </p:sldIdLst>
  <p:sldSz cx="9144000" cy="6858000" type="screen4x3"/>
  <p:notesSz cx="6858000" cy="9144000"/>
  <p:defaultTextStyle>
    <a:defPPr>
      <a:defRPr lang="en-GB"/>
    </a:defPPr>
    <a:lvl1pPr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ndiarajan S" initials="PS" lastIdx="1" clrIdx="0">
    <p:extLst>
      <p:ext uri="{19B8F6BF-5375-455C-9EA6-DF929625EA0E}">
        <p15:presenceInfo xmlns:p15="http://schemas.microsoft.com/office/powerpoint/2012/main" userId="196cd90fae0857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88140" autoAdjust="0"/>
  </p:normalViewPr>
  <p:slideViewPr>
    <p:cSldViewPr>
      <p:cViewPr varScale="1">
        <p:scale>
          <a:sx n="111" d="100"/>
          <a:sy n="111" d="100"/>
        </p:scale>
        <p:origin x="1536" y="96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BBAC0CA-2AD6-4EE7-937D-509BD6249079}" type="datetimeFigureOut">
              <a:rPr lang="en-US"/>
              <a:pPr>
                <a:defRPr/>
              </a:pPr>
              <a:t>7/29/2026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D2A3619-0F3E-409F-8BBC-62CAA7C845C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444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2A3619-0F3E-409F-8BBC-62CAA7C845C7}" type="slidenum">
              <a:rPr lang="en-IN" smtClean="0"/>
              <a:pPr>
                <a:defRPr/>
              </a:pPr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683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" name="Google Shape;4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2" name="Google Shape;49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3556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D2A3619-0F3E-409F-8BBC-62CAA7C845C7}" type="slidenum">
              <a:rPr lang="en-IN" smtClean="0"/>
              <a:pPr>
                <a:defRPr/>
              </a:pPr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809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B2606-924F-99E9-B71C-F739B9EC7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0D731-2D06-19CE-3144-B3DC1C4D5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8CBA0-107D-126C-4DF4-6CB0728D7F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0DA47-AA85-4113-8BA5-D82FC3117FCA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7E39C-1A2C-8FAD-5407-E1B03AF4BF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C1003-D6E9-B283-84C0-D98CF0A395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DD89DD-81C4-4E6B-AFEA-7492BED30D4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0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D9A9-00DD-E506-9757-AFE757D0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D1D73-D6BC-81A2-1B3C-B613A6D33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A7708-B413-D1B8-E878-FDB9DBDE43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F31751-9496-4BF2-9067-66A42BE870C6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744E7-9278-E11E-F29C-9193B34FC1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94053-6CAD-8B08-B2BF-6F11AABDA5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E1BA5-2B3A-4BA0-82C4-250B1E03B99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00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EA519-148D-FB6F-70E2-19E8E9774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79899-D5BD-D834-C909-B2ED0AD70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563CB-79ED-02FE-47EF-AD4CDA750D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B629F0-3719-4D2F-8438-3FAAE0C2D2B0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50026-AF33-42BE-3E9D-1CDE4CA77A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A14F2-9E55-E259-04C7-58A82DA7A0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ED520F-C50B-47BE-919C-C536996A22A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850F2-B95B-D839-908E-94D0BB7D7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F81E0-3C67-B4E9-38DF-FC82C4F75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5010" cy="4349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87D34-363D-BF6D-C137-10E57B758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7960" y="1825625"/>
            <a:ext cx="3886200" cy="4349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60098-8863-A93E-C9A7-FD90EE033D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99052-730E-436E-A588-B5DB9304D0CC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F666E-CABC-4828-69F3-9FD69BB9DD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200AA-B4A0-9D08-AC03-1FA3E0654C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76205-8481-4410-854E-4E65F0EAD3D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9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72F4D-A3ED-AC44-9024-540AEFDB5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0B0B1-7CA3-3075-DDF2-387559E29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4C158-5E53-6AE7-FDE0-4067C2FAD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7D5C8-32BE-9607-D506-58B5A3392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C952B7-BFBC-116E-5743-ACEA62977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B889DA-0610-6520-AFEC-C3EDE351C8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56962-B654-47BB-B7DA-894D11C2316F}" type="datetime1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13F47-19A9-3578-2C24-EB387FC1746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8066B-20E9-F17D-DD79-CA1123F453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484B84-5CB0-42B5-A7C1-8F6F1B611DD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2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AA63D-F1CE-B16F-1E91-60408292C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90A1CC-4293-109C-E17C-EE0BE19DBF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EA84F-4CD7-49A6-962F-2A72CBDDE22E}" type="datetime1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86BA7-3B8B-5EB7-CEAE-FE4D207562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A99B9A-8663-21F5-5B82-5A223EDC9D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03558-3183-467E-979E-874438A366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61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AFEF93-3AB2-BB1D-7E37-B039B8CB31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8ABD5-83CA-4BE3-A62B-8B76039B6E95}" type="datetime1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C2C49-5D10-71DA-6620-EB964F8416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BF2B6-FD9E-5B43-69E9-947F034E71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2ECD8-2D72-4EB1-90BF-B7129A01E2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1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D30DA-94FE-77E3-0D6F-2A7CC17C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1F0C4-EB0A-61E3-4BB2-118AE7FD6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3268D-AFEB-D74B-AD82-652823696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FA495-E293-507E-1D9B-064ABF4045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3980E-60BB-48E1-853D-8ED2FA3DE18D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A4923-E892-065B-A0EF-40D738DFA3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FB2F4-E512-C6E4-DA67-0AA4A19D29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02FCE7-E60B-4AB4-93A7-EA35125EBB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0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49FC8-E5F1-A221-6D13-A1C986DDF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5DB15E-DFE4-9668-F9A1-587F4A75A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802DA-6ECD-7199-C703-95DFE2A68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0C4C6-282B-4B42-EA02-822FB2D907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73CD49-5A01-4325-A9A9-F900104E31B1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0F028-0FC8-9F64-8662-EB29905697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6AFF1-6E32-D4CA-10AA-33575A3D1B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E6F8F-77F3-49D3-92DB-54C5A5D7E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99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AD095-C5BB-EA58-B7F4-35F01DE6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9A28B-6455-6D06-A54A-0662CFC98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517B5-ED7F-B353-647E-A7E81D5347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0ADDA-C62F-42E5-A07E-C575AC697937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68954-7BE7-89A5-C260-34BF604ECBC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0120B-82B9-4AD4-F613-6392C50119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BED7A0-3F6B-46DF-823D-1CE0DBD6302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62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711BA4-B497-1100-63E1-89C664207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0485" cy="5810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D3C56-68A0-31E6-3D61-A4F11B545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0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A7730-8A72-6BDA-DFC7-6ECFD6C666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E3F6D3-90B6-434C-822F-0A5F19FCD7B7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3749A-0B8A-54B6-1C40-D251DA6C34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1B874-0F02-23B8-4E69-998C7F9E5B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76FB47-3F90-442C-8F17-A1D13EE195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1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C9243247-00EB-1CE4-7823-B159A0384D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6"/>
            <a:ext cx="788551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formatClick to edit Master title style</a:t>
            </a:r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D4912CDA-5DCE-5D37-FDBC-F9EB07878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5510" cy="434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0"/>
            <a:r>
              <a:rPr lang="en-GB" altLang="en-US"/>
              <a:t>Ninth Outline LevelClick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D2E01FF-B5E5-CFAA-F2CA-42C801877DAE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628650" y="6356350"/>
            <a:ext cx="205621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 hangingPunct="1">
              <a:lnSpc>
                <a:spcPct val="100000"/>
              </a:lnSpc>
              <a:tabLst>
                <a:tab pos="542925" algn="l"/>
                <a:tab pos="1085850" algn="l"/>
                <a:tab pos="1628775" algn="l"/>
              </a:tabLst>
              <a:defRPr>
                <a:solidFill>
                  <a:srgbClr val="000000"/>
                </a:solidFill>
                <a:latin typeface="+mn-lt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920D19BA-AE93-40C6-AA9F-F5CD638A8BC8}" type="datetime1">
              <a:rPr lang="en-US" smtClean="0"/>
              <a:t>7/29/2026</a:t>
            </a:fld>
            <a:endParaRPr 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9113BE5-0EAC-89EB-A65C-70FF055B435B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028950" y="6356350"/>
            <a:ext cx="308491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 hangingPunct="1">
              <a:lnSpc>
                <a:spcPct val="100000"/>
              </a:lnSpc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</a:tabLst>
              <a:defRPr>
                <a:solidFill>
                  <a:srgbClr val="000000"/>
                </a:solidFill>
                <a:latin typeface="+mn-lt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B8DB239-42A4-86C2-C058-8BDF964E180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457950" y="6356350"/>
            <a:ext cx="205621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 hangingPunct="1">
              <a:lnSpc>
                <a:spcPct val="100000"/>
              </a:lnSpc>
              <a:tabLst>
                <a:tab pos="542925" algn="l"/>
                <a:tab pos="1085850" algn="l"/>
                <a:tab pos="1628775" algn="l"/>
              </a:tabLst>
              <a:defRPr>
                <a:solidFill>
                  <a:srgbClr val="000000"/>
                </a:solidFill>
                <a:latin typeface="+mn-lt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CEAC9AEA-22CE-4FC0-819B-58CD2AEA48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6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557213" indent="-214313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marL="857250" indent="-171450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marL="1200150" indent="-171450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marL="1543050" indent="-171450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1885950" indent="-171450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228850" indent="-171450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2571750" indent="-171450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2914650" indent="-171450" algn="l" defTabSz="342900" rtl="0" eaLnBrk="1" fontAlgn="base" hangingPunct="1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257175" indent="-257175" algn="l" defTabSz="342900" rtl="0" eaLnBrk="1" fontAlgn="base" hangingPunct="1">
        <a:lnSpc>
          <a:spcPct val="92000"/>
        </a:lnSpc>
        <a:spcBef>
          <a:spcPct val="0"/>
        </a:spcBef>
        <a:spcAft>
          <a:spcPts val="1069"/>
        </a:spcAft>
        <a:buClr>
          <a:srgbClr val="000000"/>
        </a:buClr>
        <a:buSzPct val="100000"/>
        <a:buFont typeface="Times New Roman" panose="02020603050405020304" pitchFamily="18" charset="0"/>
        <a:defRPr sz="2100" kern="1200">
          <a:solidFill>
            <a:srgbClr val="000000"/>
          </a:solidFill>
          <a:latin typeface="+mn-lt"/>
          <a:ea typeface="+mn-ea"/>
          <a:cs typeface="+mn-cs"/>
        </a:defRPr>
      </a:lvl1pPr>
      <a:lvl2pPr marL="557213" indent="-214313" algn="l" defTabSz="342900" rtl="0" eaLnBrk="1" fontAlgn="base" hangingPunct="1">
        <a:lnSpc>
          <a:spcPct val="92000"/>
        </a:lnSpc>
        <a:spcBef>
          <a:spcPct val="0"/>
        </a:spcBef>
        <a:spcAft>
          <a:spcPts val="854"/>
        </a:spcAft>
        <a:buClr>
          <a:srgbClr val="000000"/>
        </a:buClr>
        <a:buSzPct val="100000"/>
        <a:buFont typeface="Times New Roman" panose="02020603050405020304" pitchFamily="18" charset="0"/>
        <a:defRPr sz="1500" kern="1200">
          <a:solidFill>
            <a:srgbClr val="000000"/>
          </a:solidFill>
          <a:latin typeface="+mn-lt"/>
          <a:ea typeface="+mn-ea"/>
          <a:cs typeface="+mn-cs"/>
        </a:defRPr>
      </a:lvl2pPr>
      <a:lvl3pPr marL="857250" indent="-171450" algn="l" defTabSz="342900" rtl="0" eaLnBrk="1" fontAlgn="base" hangingPunct="1">
        <a:lnSpc>
          <a:spcPct val="92000"/>
        </a:lnSpc>
        <a:spcBef>
          <a:spcPct val="0"/>
        </a:spcBef>
        <a:spcAft>
          <a:spcPts val="638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200150" indent="-171450" algn="l" defTabSz="342900" rtl="0" eaLnBrk="1" fontAlgn="base" hangingPunct="1">
        <a:lnSpc>
          <a:spcPct val="92000"/>
        </a:lnSpc>
        <a:spcBef>
          <a:spcPct val="0"/>
        </a:spcBef>
        <a:spcAft>
          <a:spcPts val="431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1543050" indent="-171450" algn="l" defTabSz="342900" rtl="0" eaLnBrk="1" fontAlgn="base" hangingPunct="1">
        <a:lnSpc>
          <a:spcPct val="92000"/>
        </a:lnSpc>
        <a:spcBef>
          <a:spcPct val="0"/>
        </a:spcBef>
        <a:spcAft>
          <a:spcPts val="216"/>
        </a:spcAft>
        <a:buClr>
          <a:srgbClr val="000000"/>
        </a:buClr>
        <a:buSzPct val="100000"/>
        <a:buFont typeface="Times New Roman" panose="02020603050405020304" pitchFamily="18" charset="0"/>
        <a:defRPr sz="1500" kern="1200">
          <a:solidFill>
            <a:srgbClr val="000000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87663053_WiFi_Attend_-Real-Time_Automated_Attendance_Management_via_Wi-Fi_Automated_attendance_marking_and_Certify_attendance_via_wireless_hotspo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l.acm.org/doi/10.1145/3704522.370452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journals.sagepub.com/doi/10.1155/2015/508698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4582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19648" y="1921749"/>
            <a:ext cx="8776888" cy="4579235"/>
          </a:xfrm>
        </p:spPr>
        <p:txBody>
          <a:bodyPr anchor="ctr">
            <a:normAutofit fontScale="25000" lnSpcReduction="20000"/>
          </a:bodyPr>
          <a:lstStyle/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None/>
              <a:defRPr/>
            </a:pPr>
            <a:endParaRPr lang="en-IN" sz="9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spcBef>
                <a:spcPts val="580"/>
              </a:spcBef>
              <a:spcAft>
                <a:spcPts val="0"/>
              </a:spcAft>
              <a:buNone/>
              <a:defRPr/>
            </a:pPr>
            <a:r>
              <a:rPr lang="en-IN" sz="9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Number   : B1</a:t>
            </a:r>
          </a:p>
          <a:p>
            <a:pPr marL="0" indent="0" fontAlgn="auto">
              <a:spcBef>
                <a:spcPts val="580"/>
              </a:spcBef>
              <a:spcAft>
                <a:spcPts val="0"/>
              </a:spcAft>
              <a:buNone/>
              <a:defRPr/>
            </a:pPr>
            <a:endParaRPr lang="en-IN" sz="9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spcBef>
                <a:spcPts val="580"/>
              </a:spcBef>
              <a:spcAft>
                <a:spcPts val="0"/>
              </a:spcAft>
              <a:buNone/>
              <a:defRPr/>
            </a:pPr>
            <a:r>
              <a:rPr lang="en-IN" sz="9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            :  Internet of Things (IoT) / Wireless Networks</a:t>
            </a: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None/>
              <a:defRPr/>
            </a:pP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Title                  </a:t>
            </a:r>
            <a:r>
              <a:rPr lang="en-IN" sz="96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WiFi-Based Attendance and Verification System</a:t>
            </a: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None/>
              <a:defRPr/>
            </a:pP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Guide                : Mr. M Vishnu Prasath AP(SS) AI&amp;DS</a:t>
            </a:r>
          </a:p>
          <a:p>
            <a:pPr marL="0" indent="0">
              <a:lnSpc>
                <a:spcPct val="80000"/>
              </a:lnSpc>
              <a:spcBef>
                <a:spcPts val="580"/>
              </a:spcBef>
              <a:buSzPts val="2044"/>
              <a:buFont typeface="Arial" panose="020B0604020202020204" pitchFamily="34" charset="0"/>
              <a:buNone/>
            </a:pP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</a:t>
            </a:r>
            <a:endParaRPr lang="en-IN" sz="9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spcBef>
                <a:spcPts val="580"/>
              </a:spcBef>
              <a:spcAft>
                <a:spcPts val="0"/>
              </a:spcAft>
              <a:buNone/>
              <a:defRPr/>
            </a:pPr>
            <a:r>
              <a:rPr lang="en-IN" sz="9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marL="457200" indent="-457200" fontAlgn="auto"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Font typeface="Wingdings 2" panose="05020102010507070707" pitchFamily="18" charset="2"/>
              <a:buAutoNum type="arabicPeriod"/>
              <a:defRPr/>
            </a:pP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Dakshinesh S             (727623BAD092)</a:t>
            </a:r>
            <a:endParaRPr lang="x-none" altLang="en-IN" sz="9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auto"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Font typeface="Wingdings 2" panose="05020102010507070707" pitchFamily="18" charset="2"/>
              <a:buAutoNum type="arabicPeriod"/>
              <a:defRPr/>
            </a:pP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Jothi Krishnan D N    (727623BAD074)</a:t>
            </a:r>
          </a:p>
          <a:p>
            <a:pPr marL="457200" indent="-457200" fontAlgn="auto">
              <a:spcBef>
                <a:spcPts val="580"/>
              </a:spcBef>
              <a:spcAft>
                <a:spcPts val="0"/>
              </a:spcAft>
              <a:buClr>
                <a:schemeClr val="tx1"/>
              </a:buClr>
              <a:buFont typeface="Wingdings 2" panose="05020102010507070707" pitchFamily="18" charset="2"/>
              <a:buAutoNum type="arabicPeriod"/>
              <a:defRPr/>
            </a:pPr>
            <a:r>
              <a:rPr lang="en-IN" sz="96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Team member Name  (727623BAD036)</a:t>
            </a:r>
          </a:p>
          <a:p>
            <a:pPr marL="0" indent="0" fontAlgn="auto">
              <a:spcBef>
                <a:spcPts val="580"/>
              </a:spcBef>
              <a:spcAft>
                <a:spcPts val="0"/>
              </a:spcAft>
              <a:defRPr/>
            </a:pPr>
            <a:endParaRPr lang="en-IN" sz="9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>
              <a:buFontTx/>
              <a:buNone/>
              <a:defRPr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8">
              <a:buFontTx/>
              <a:buNone/>
              <a:defRPr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				</a:t>
            </a:r>
          </a:p>
          <a:p>
            <a:pPr lvl="8">
              <a:buFontTx/>
              <a:buNone/>
              <a:defRPr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Font typeface="Wingdings 2" panose="05020102010507070707"/>
              <a:buChar char=""/>
              <a:defRPr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90366" y="457200"/>
            <a:ext cx="7163267" cy="1738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Mahalingam College of Engineering &amp; Technology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Data Science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23ADP701–PROJECT PHASE - 1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44562"/>
          </a:xfrm>
        </p:spPr>
        <p:txBody>
          <a:bodyPr/>
          <a:lstStyle/>
          <a:p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328B62-390F-8BB9-EF5F-43200B98305F}"/>
              </a:ext>
            </a:extLst>
          </p:cNvPr>
          <p:cNvSpPr txBox="1">
            <a:spLocks/>
          </p:cNvSpPr>
          <p:nvPr/>
        </p:nvSpPr>
        <p:spPr bwMode="auto">
          <a:xfrm>
            <a:off x="914400" y="1246076"/>
            <a:ext cx="7772400" cy="43658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fontAlgn="base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fontAlgn="base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Identified and Findings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Block Diagram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Block Diagram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pPr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938" y="598822"/>
            <a:ext cx="7885510" cy="676051"/>
          </a:xfrm>
        </p:spPr>
        <p:txBody>
          <a:bodyPr/>
          <a:lstStyle/>
          <a:p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552" y="1196752"/>
            <a:ext cx="7930896" cy="4724400"/>
          </a:xfrm>
        </p:spPr>
        <p:txBody>
          <a:bodyPr/>
          <a:lstStyle/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Traditional attendance and access verification relies on biometric scanners (fingerprint or face recognition), which force everyone to physically queue at one checkpoint, causing long waiting times during peak entry hours.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Fingerprint sensors are unreliable with dirt, moisture, or worn ridges, and face-recognition units struggle with masks, poor lighting, or camera angle — leading to repeated failed scans and further delay.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Dedicated biometric hardware is expensive to install and maintain at every entry point, and once biometric data is compromised it cannot be changed or reissued, unlike a password or token.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A single centralized scanner is a bottleneck and a single point of failure: if it malfunctions, the entire attendance or verification process halts for everyone behind it.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There is a need for a low-cost, contactless, and scalable way to verify presence and mark attendance for many people at the same time, without a physical queue at one 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8"/>
          <p:cNvSpPr txBox="1">
            <a:spLocks noGrp="1"/>
          </p:cNvSpPr>
          <p:nvPr>
            <p:ph type="title"/>
          </p:nvPr>
        </p:nvSpPr>
        <p:spPr>
          <a:xfrm>
            <a:off x="827584" y="476672"/>
            <a:ext cx="7783017" cy="10399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spcFirstLastPara="1" vert="horz" wrap="square" lIns="68569" tIns="34275" rIns="68569" bIns="68569" numCol="1" anchor="b" anchorCtr="0" compatLnSpc="1">
            <a:no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Objective</a:t>
            </a:r>
            <a:endParaRPr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505;p19">
            <a:extLst>
              <a:ext uri="{FF2B5EF4-FFF2-40B4-BE49-F238E27FC236}">
                <a16:creationId xmlns:a16="http://schemas.microsoft.com/office/drawing/2014/main" id="{7F7FF909-017A-4C6F-B15B-ACD61E4D0805}"/>
              </a:ext>
            </a:extLst>
          </p:cNvPr>
          <p:cNvSpPr txBox="1">
            <a:spLocks/>
          </p:cNvSpPr>
          <p:nvPr/>
        </p:nvSpPr>
        <p:spPr>
          <a:xfrm>
            <a:off x="611560" y="1513826"/>
            <a:ext cx="7783017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457200" marR="0" lvl="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400"/>
              <a:buFont typeface="Times New Roman"/>
              <a:buChar char="●"/>
              <a:defRPr sz="1800" b="0" i="0" u="none" strike="noStrike" cap="none">
                <a:latin typeface="Helvetica" panose="020B0604020202020204" pitchFamily="34" charset="0"/>
                <a:ea typeface="Libre Baskerville"/>
                <a:cs typeface="Helvetica" panose="020B0604020202020204" pitchFamily="34" charset="0"/>
              </a:defRPr>
            </a:lvl1pPr>
            <a:lvl2pPr marL="914400" marR="0" lvl="1" indent="-325755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2pPr>
            <a:lvl3pPr marL="1371600" marR="0" lvl="2" indent="-325755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53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3pPr>
            <a:lvl4pPr marL="1828800" marR="0" lvl="3" indent="-320039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44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4pPr>
            <a:lvl5pPr marL="2286000" marR="0" lvl="4" indent="-34290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800"/>
              <a:buFont typeface="Libre Baskerville"/>
              <a:buChar char="o"/>
              <a:defRPr sz="20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5pPr>
            <a:lvl6pPr marL="2743200" marR="0" lvl="5" indent="-34290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6pPr>
            <a:lvl7pPr marL="3200400" marR="0" lvl="6" indent="-34290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7pPr>
            <a:lvl8pPr marL="3657600" marR="0" lvl="7" indent="-34290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8pPr>
            <a:lvl9pPr marL="4114800" marR="0" lvl="8" indent="-34290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defRPr>
            </a:lvl9pPr>
          </a:lstStyle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Design a system that verifies attendance and presence using an organization's existing common Wi-Fi network, instead of dedicated biometric scanners.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Eliminate queuing at a single checkpoint by letting many users be verified in parallel, simply by being connected to the shared Wi-Fi access point.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Use network-layer signals — SSID/BSSID association and Wi-Fi RSSI (signal strength) — to confirm that a user's device is physically present within the premises.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Add a lightweight authentication layer (login session/OTP binding) on top of Wi-Fi connectivity so that merely joining the network cannot be used to mark someone else's attendance.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Provide a real-time dashboard for administrators to view attendance logs, flagged exceptions, and analytics.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Reduce hardware cost and maintenance compared to biometric devices, while improving speed, hygiene, and scalability of the verification process.</a:t>
            </a:r>
          </a:p>
        </p:txBody>
      </p:sp>
    </p:spTree>
    <p:extLst>
      <p:ext uri="{BB962C8B-B14F-4D97-AF65-F5344CB8AC3E}">
        <p14:creationId xmlns:p14="http://schemas.microsoft.com/office/powerpoint/2010/main" val="1223958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E1530AF-8868-5311-71C9-138D48DF00D5}"/>
              </a:ext>
            </a:extLst>
          </p:cNvPr>
          <p:cNvSpPr txBox="1">
            <a:spLocks/>
          </p:cNvSpPr>
          <p:nvPr/>
        </p:nvSpPr>
        <p:spPr bwMode="auto">
          <a:xfrm>
            <a:off x="615315" y="2362200"/>
            <a:ext cx="8033385" cy="1592580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273050" indent="-273050" algn="l" rtl="0" fontAlgn="base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fontAlgn="base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Identified and Findings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82A0-6D8E-8087-42B4-FB2199A62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0531"/>
            <a:ext cx="7772400" cy="1143000"/>
          </a:xfrm>
        </p:spPr>
        <p:txBody>
          <a:bodyPr/>
          <a:lstStyle/>
          <a:p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GB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B7F52-CCB0-337B-A69C-38310FB19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7772400" cy="4572000"/>
          </a:xfrm>
        </p:spPr>
        <p:txBody>
          <a:bodyPr/>
          <a:lstStyle/>
          <a:p>
            <a:pPr marL="228600" indent="-228600" algn="just">
              <a:spcBef>
                <a:spcPts val="0"/>
              </a:spcBef>
              <a:buNone/>
            </a:pPr>
            <a:r>
              <a:rPr lang="en-US" sz="2000" b="1" dirty="0">
                <a:latin typeface="Times New Roman"/>
                <a:cs typeface="Times New Roman"/>
              </a:rPr>
              <a:t>WiFi Attend: Real-Time Attendance via Wi-Fi (2025)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Marks attendance by having a user's smartphone connect to a dedicated Wi-Fi hotspot, verifying same-network presence in real time.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Combines a responsive frontend, a backend server, and a Wi-Fi validation module to confirm proximity without extra hardware.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Reports the approach is cost-effective and scalable since institutions already have wireless infrastructure, but flags device authentication and network congestion under high user density as open challenges.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D1BB5D-779F-BD18-C3AA-E09BCB070BDA}"/>
              </a:ext>
            </a:extLst>
          </p:cNvPr>
          <p:cNvSpPr txBox="1">
            <a:spLocks/>
          </p:cNvSpPr>
          <p:nvPr/>
        </p:nvSpPr>
        <p:spPr bwMode="auto">
          <a:xfrm>
            <a:off x="457200" y="4552275"/>
            <a:ext cx="7859216" cy="1288485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273050" indent="-273050" algn="l" rtl="0" fontAlgn="base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fontAlgn="base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View sourc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-&gt;</a:t>
            </a:r>
            <a:endParaRPr lang="en-IN" sz="1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694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A8DD4-EB7A-FC3F-B92A-4AB22B562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94D19-D8DC-B617-AF77-1E68B4B11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0531"/>
            <a:ext cx="7772400" cy="1143000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GB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C6A52-8E3D-F8A4-A28E-F58AEF0EB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7772400" cy="4572000"/>
          </a:xfrm>
        </p:spPr>
        <p:txBody>
          <a:bodyPr/>
          <a:lstStyle/>
          <a:p>
            <a:pPr marL="228600" indent="-228600" algn="just">
              <a:spcBef>
                <a:spcPts val="0"/>
              </a:spcBef>
              <a:buNone/>
            </a:pPr>
            <a:r>
              <a:rPr lang="en-US" sz="1800" b="1" dirty="0">
                <a:latin typeface="Times New Roman"/>
                <a:cs typeface="Times New Roman"/>
              </a:rPr>
              <a:t>WiFi RSS-Based Automated Attendance System (ACM ICNSS, 2025)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Uses Wi-Fi Received Signal Strength Indicator (RSSI) readings, which are low-cost to capture and more privacy-preserving than camera-based biometrics.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Finds that simple RSSI zone-based systems struggle to validate presence precisely at classroom or room boundaries, creating loopholes for proxy attendance near the edge of coverage.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Proposes pairing Wi-Fi fingerprint-based indoor localization with RSSI zoning to tighten boundary accuracy and reduce spoofing.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75A9733-BDC0-FB29-8341-802B2CE1DF99}"/>
              </a:ext>
            </a:extLst>
          </p:cNvPr>
          <p:cNvSpPr txBox="1">
            <a:spLocks/>
          </p:cNvSpPr>
          <p:nvPr/>
        </p:nvSpPr>
        <p:spPr bwMode="auto">
          <a:xfrm>
            <a:off x="457200" y="4552275"/>
            <a:ext cx="7859216" cy="1288485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273050" indent="-273050" algn="l" rtl="0" fontAlgn="base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fontAlgn="base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View source -&gt;</a:t>
            </a:r>
            <a:endParaRPr lang="en-IN" sz="1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689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E021-FB1F-B24E-7679-018067F0E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FA4D-65B1-F742-E5FB-080CB174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0531"/>
            <a:ext cx="7772400" cy="1143000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GB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19EF-0D4A-4936-BC14-56AF9CB7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7772400" cy="4572000"/>
          </a:xfrm>
        </p:spPr>
        <p:txBody>
          <a:bodyPr/>
          <a:lstStyle/>
          <a:p>
            <a:pPr marL="228600" indent="-228600" algn="just">
              <a:spcBef>
                <a:spcPts val="0"/>
              </a:spcBef>
              <a:buNone/>
            </a:pPr>
            <a:r>
              <a:rPr lang="en-US" sz="2000" b="1" dirty="0">
                <a:latin typeface="Times New Roman"/>
                <a:cs typeface="Times New Roman"/>
              </a:rPr>
              <a:t>Attendance Check System for Wi-Fi Networks with Unlimited Concurrent Connections (Choi et al., 2015)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Issues each verified member a session token; the member's device automatically reports the token to an attendance server once connected to the shared network, with no manual scan needed.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Focuses on detecting whether a device is within range of a known SSID rather than computing an exact distance, avoiding calibration problems of precise RSSI-based ranging.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Shows the approach scales to a large number of simultaneous connections, addressing a key limitation of hardware-bound biometric scanners.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73F8AD-E620-48D0-594A-582919D8D2A1}"/>
              </a:ext>
            </a:extLst>
          </p:cNvPr>
          <p:cNvSpPr txBox="1">
            <a:spLocks/>
          </p:cNvSpPr>
          <p:nvPr/>
        </p:nvSpPr>
        <p:spPr bwMode="auto">
          <a:xfrm>
            <a:off x="457200" y="4552275"/>
            <a:ext cx="7859216" cy="1288485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273050" indent="-273050" algn="l" rtl="0" fontAlgn="base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fontAlgn="base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View source -&gt;</a:t>
            </a:r>
            <a:endParaRPr lang="en-IN" sz="1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827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3E3B-D80E-EA66-6343-57741B5C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Block Diagram</a:t>
            </a:r>
            <a:endParaRPr lang="en-GB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2377440"/>
            <a:ext cx="964692" cy="91440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Times New Roman"/>
              </a:rPr>
              <a:t>User
Arrives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23644" y="2377440"/>
            <a:ext cx="1161287" cy="91440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Times New Roman"/>
              </a:rPr>
              <a:t>Waits in
Queue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71849" y="2377440"/>
            <a:ext cx="1417320" cy="91440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Times New Roman"/>
              </a:rPr>
              <a:t>Biometric
Scanner
(Finger/Face)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5201" y="2377440"/>
            <a:ext cx="1417320" cy="91440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Times New Roman"/>
              </a:rPr>
              <a:t>Match vs.
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18553" y="2377440"/>
            <a:ext cx="1417320" cy="91440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Times New Roman"/>
              </a:rPr>
              <a:t>Pass /
Fail Check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1467612" y="2834640"/>
            <a:ext cx="256032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</p:cNvCxnSpPr>
          <p:nvPr/>
        </p:nvCxnSpPr>
        <p:spPr>
          <a:xfrm>
            <a:off x="2915816" y="2834640"/>
            <a:ext cx="256033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</p:cNvCxnSpPr>
          <p:nvPr/>
        </p:nvCxnSpPr>
        <p:spPr>
          <a:xfrm>
            <a:off x="4589169" y="2834640"/>
            <a:ext cx="256032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</p:cNvCxnSpPr>
          <p:nvPr/>
        </p:nvCxnSpPr>
        <p:spPr>
          <a:xfrm>
            <a:off x="6262521" y="2834640"/>
            <a:ext cx="256032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72732" y="4114800"/>
            <a:ext cx="1417320" cy="68580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Times New Roman"/>
              </a:rPr>
              <a:t>Attendance
Marked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4373" y="4114800"/>
            <a:ext cx="1417320" cy="68580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Times New Roman"/>
              </a:rPr>
              <a:t>Entry
Denied</a:t>
            </a: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 flipH="1">
            <a:off x="6381392" y="3291840"/>
            <a:ext cx="800100" cy="8229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</p:cNvCxnSpPr>
          <p:nvPr/>
        </p:nvCxnSpPr>
        <p:spPr>
          <a:xfrm>
            <a:off x="7272933" y="3291840"/>
            <a:ext cx="800100" cy="8229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507492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C0392B"/>
                </a:solidFill>
                <a:latin typeface="Times New Roman"/>
              </a:rPr>
              <a:t>Limitation: everyone funnels through a single scanner one at a time, so queue length grows with headcount and any sensor failure or misread halts the whole line.</a:t>
            </a:r>
          </a:p>
        </p:txBody>
      </p:sp>
    </p:spTree>
    <p:extLst>
      <p:ext uri="{BB962C8B-B14F-4D97-AF65-F5344CB8AC3E}">
        <p14:creationId xmlns:p14="http://schemas.microsoft.com/office/powerpoint/2010/main" val="1311177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3AA14-9B0C-E07F-7C64-A8E9DDEF6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B227F-2AF3-0F9C-F285-AA168B4A0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Block Diagram</a:t>
            </a:r>
            <a:endParaRPr lang="en-GB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2286000"/>
            <a:ext cx="1417320" cy="91440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Times New Roman"/>
              </a:rPr>
              <a:t>User Device
(Phone/Laptop)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84832" y="2286000"/>
            <a:ext cx="1417320" cy="91440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Times New Roman"/>
              </a:rPr>
              <a:t>Connects to
Common Wi-Fi 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58184" y="2286000"/>
            <a:ext cx="1417320" cy="91440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Times New Roman"/>
              </a:rPr>
              <a:t>Wi-Fi Verification
Server
(SSID/BSSID + RSSI)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31536" y="2286000"/>
            <a:ext cx="1417320" cy="91440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Times New Roman"/>
              </a:rPr>
              <a:t>Authentication &amp;
Anti-Spoofing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04888" y="2286000"/>
            <a:ext cx="1417320" cy="91440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Times New Roman"/>
              </a:rPr>
              <a:t>Attendance
Database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743200"/>
            <a:ext cx="256032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02152" y="2743200"/>
            <a:ext cx="256032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75504" y="2743200"/>
            <a:ext cx="256032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48856" y="2743200"/>
            <a:ext cx="256032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04888" y="4023360"/>
            <a:ext cx="1417320" cy="68580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Times New Roman"/>
              </a:rPr>
              <a:t>Admin Dashboard /
User Notification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3548" y="3200400"/>
            <a:ext cx="0" cy="8229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498348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0392B"/>
                </a:solidFill>
                <a:latin typeface="Times New Roman"/>
              </a:rPr>
              <a:t>Every device already connected to the shared Wi-Fi is checked in parallel by the verification server, so many users are confirmed present at the same time instead of queuing at one scanner.</a:t>
            </a:r>
          </a:p>
        </p:txBody>
      </p:sp>
    </p:spTree>
    <p:extLst>
      <p:ext uri="{BB962C8B-B14F-4D97-AF65-F5344CB8AC3E}">
        <p14:creationId xmlns:p14="http://schemas.microsoft.com/office/powerpoint/2010/main" val="651542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683" y="44624"/>
            <a:ext cx="7772400" cy="1143000"/>
          </a:xfrm>
          <a:noFill/>
          <a:ln w="9525">
            <a:noFill/>
            <a:miter lim="800000"/>
          </a:ln>
        </p:spPr>
        <p:txBody>
          <a:bodyPr spcFirstLastPara="1" vert="horz" wrap="square" lIns="68569" tIns="34275" rIns="68569" bIns="68569" numCol="1" anchor="b" anchorCtr="0" compatLnSpc="1">
            <a:noAutofit/>
          </a:bodyPr>
          <a:lstStyle/>
          <a:p>
            <a:r>
              <a:rPr lang="en-US" alt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x-none" altLang="en-IN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E8C74C-D4E7-5ECB-CA61-03B7633AC1B5}"/>
              </a:ext>
            </a:extLst>
          </p:cNvPr>
          <p:cNvSpPr txBox="1"/>
          <p:nvPr/>
        </p:nvSpPr>
        <p:spPr>
          <a:xfrm>
            <a:off x="539552" y="1187624"/>
            <a:ext cx="8324850" cy="3352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spcBef>
                <a:spcPts val="8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b="1" dirty="0">
                <a:latin typeface="Times New Roman"/>
                <a:cs typeface="Times New Roman"/>
              </a:rPr>
              <a:t>Wi-Fi Scanning &amp; Connection Module: </a:t>
            </a:r>
            <a:r>
              <a:rPr lang="en-US" sz="1600" dirty="0">
                <a:latin typeface="Times New Roman"/>
                <a:cs typeface="Times New Roman"/>
              </a:rPr>
              <a:t>Detects when a registered user's device associates with the institution's Wi-Fi access point and captures its SSID/BSSID.</a:t>
            </a:r>
          </a:p>
          <a:p>
            <a:pPr marL="228600" indent="-228600" algn="just">
              <a:spcBef>
                <a:spcPts val="8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b="1" dirty="0">
                <a:latin typeface="Times New Roman"/>
                <a:cs typeface="Times New Roman"/>
              </a:rPr>
              <a:t>Proximity Verification Module: </a:t>
            </a:r>
            <a:r>
              <a:rPr lang="en-US" sz="1600" dirty="0">
                <a:latin typeface="Times New Roman"/>
                <a:cs typeface="Times New Roman"/>
              </a:rPr>
              <a:t>Uses RSSI signal-strength thresholds and access-point mapping to confirm the device is physically within the premises, not connecting remotely.</a:t>
            </a:r>
          </a:p>
          <a:p>
            <a:pPr marL="228600" indent="-228600" algn="just">
              <a:spcBef>
                <a:spcPts val="8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b="1" dirty="0">
                <a:latin typeface="Times New Roman"/>
                <a:cs typeface="Times New Roman"/>
              </a:rPr>
              <a:t>Authentication Module: </a:t>
            </a:r>
            <a:r>
              <a:rPr lang="en-US" sz="1600" dirty="0">
                <a:latin typeface="Times New Roman"/>
                <a:cs typeface="Times New Roman"/>
              </a:rPr>
              <a:t>Binds each Wi-Fi session to a registered user through a login/OTP step, so simply joining the network cannot mark someone else's attendance.</a:t>
            </a:r>
          </a:p>
          <a:p>
            <a:pPr marL="228600" indent="-228600" algn="just">
              <a:spcBef>
                <a:spcPts val="8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b="1" dirty="0">
                <a:latin typeface="Times New Roman"/>
                <a:cs typeface="Times New Roman"/>
              </a:rPr>
              <a:t>Anti-Spoofing Module: </a:t>
            </a:r>
            <a:r>
              <a:rPr lang="en-US" sz="1600" dirty="0">
                <a:latin typeface="Times New Roman"/>
                <a:cs typeface="Times New Roman"/>
              </a:rPr>
              <a:t>Detects MAC-address spoofing or duplicate/proxy connections and flags irregular sessions for manual review.</a:t>
            </a:r>
          </a:p>
          <a:p>
            <a:pPr marL="228600" indent="-228600" algn="just">
              <a:spcBef>
                <a:spcPts val="8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b="1" dirty="0">
                <a:latin typeface="Times New Roman"/>
                <a:cs typeface="Times New Roman"/>
              </a:rPr>
              <a:t>Attendance Database Module: </a:t>
            </a:r>
            <a:r>
              <a:rPr lang="en-US" sz="1600" dirty="0">
                <a:latin typeface="Times New Roman"/>
                <a:cs typeface="Times New Roman"/>
              </a:rPr>
              <a:t>Logs every verified session with timestamp, access-point ID, and status into a central database.</a:t>
            </a:r>
          </a:p>
          <a:p>
            <a:pPr marL="228600" indent="-228600" algn="just">
              <a:spcBef>
                <a:spcPts val="8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b="1" dirty="0">
                <a:latin typeface="Times New Roman"/>
                <a:cs typeface="Times New Roman"/>
              </a:rPr>
              <a:t>Admin Dashboard Module: </a:t>
            </a:r>
            <a:r>
              <a:rPr lang="en-US" sz="1600" dirty="0">
                <a:latin typeface="Times New Roman"/>
                <a:cs typeface="Times New Roman"/>
              </a:rPr>
              <a:t>Gives coordinators real-time visibility into attendance records, flagged exceptions, and usage analytics.</a:t>
            </a:r>
          </a:p>
        </p:txBody>
      </p:sp>
    </p:spTree>
    <p:extLst>
      <p:ext uri="{BB962C8B-B14F-4D97-AF65-F5344CB8AC3E}">
        <p14:creationId xmlns:p14="http://schemas.microsoft.com/office/powerpoint/2010/main" val="3712612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266700"/>
            <a:ext cx="7105650" cy="1143000"/>
          </a:xfrm>
        </p:spPr>
        <p:txBody>
          <a:bodyPr/>
          <a:lstStyle/>
          <a:p>
            <a:r>
              <a:rPr lang="en-US" alt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8650" y="1268760"/>
            <a:ext cx="7885510" cy="374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/>
          </a:p>
          <a:p>
            <a:pPr marL="228600" indent="-228600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C0392B"/>
                </a:solidFill>
                <a:latin typeface="Times New Roman"/>
                <a:cs typeface="Times New Roman"/>
              </a:rPr>
              <a:t>Hardware Requirements</a:t>
            </a:r>
          </a:p>
          <a:p>
            <a:pPr marL="457200" indent="-228600">
              <a:spcBef>
                <a:spcPts val="600"/>
              </a:spcBef>
              <a:buClr>
                <a:srgbClr val="555555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Wi-Fi access point(s) / router broadcasting the institution's common SSID</a:t>
            </a:r>
          </a:p>
          <a:p>
            <a:pPr marL="457200" indent="-228600">
              <a:spcBef>
                <a:spcPts val="600"/>
              </a:spcBef>
              <a:buClr>
                <a:srgbClr val="555555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Server or cloud instance to host the verification backend</a:t>
            </a:r>
          </a:p>
          <a:p>
            <a:pPr marL="457200" indent="-228600">
              <a:spcBef>
                <a:spcPts val="600"/>
              </a:spcBef>
              <a:buClr>
                <a:srgbClr val="555555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User smartphones / laptops with built-in Wi-Fi (no extra biometric hardware needed)</a:t>
            </a:r>
          </a:p>
          <a:p>
            <a:pPr marL="228600" indent="-22860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C0392B"/>
                </a:solidFill>
                <a:latin typeface="Times New Roman"/>
                <a:cs typeface="Times New Roman"/>
              </a:rPr>
              <a:t>Software Requirements</a:t>
            </a:r>
          </a:p>
          <a:p>
            <a:pPr marL="457200" indent="-228600">
              <a:spcBef>
                <a:spcPts val="600"/>
              </a:spcBef>
              <a:buClr>
                <a:srgbClr val="555555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Backend: Python (Flask/Django) or Node.js REST API</a:t>
            </a:r>
          </a:p>
          <a:p>
            <a:pPr marL="457200" indent="-228600">
              <a:spcBef>
                <a:spcPts val="600"/>
              </a:spcBef>
              <a:buClr>
                <a:srgbClr val="555555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Database: MySQL / MongoDB for attendance and user records</a:t>
            </a:r>
          </a:p>
          <a:p>
            <a:pPr marL="457200" indent="-228600">
              <a:spcBef>
                <a:spcPts val="600"/>
              </a:spcBef>
              <a:buClr>
                <a:srgbClr val="555555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Frontend: Web or mobile app (React / Flutter) for login and session display</a:t>
            </a:r>
          </a:p>
          <a:p>
            <a:pPr marL="457200" indent="-228600">
              <a:spcBef>
                <a:spcPts val="600"/>
              </a:spcBef>
              <a:buClr>
                <a:srgbClr val="555555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Network layer: Wi-Fi scanning utilities (e.g. iwlist, ARP tables) to capture SSID/BSSID/RSSI</a:t>
            </a:r>
          </a:p>
          <a:p>
            <a:pPr marL="457200" indent="-228600">
              <a:spcBef>
                <a:spcPts val="600"/>
              </a:spcBef>
              <a:buClr>
                <a:srgbClr val="555555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Security: JWT/OTP-based authentication over HTTPS</a:t>
            </a:r>
          </a:p>
        </p:txBody>
      </p:sp>
    </p:spTree>
    <p:extLst>
      <p:ext uri="{BB962C8B-B14F-4D97-AF65-F5344CB8AC3E}">
        <p14:creationId xmlns:p14="http://schemas.microsoft.com/office/powerpoint/2010/main" val="3840008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8045-6085-433B-DC7F-4047E2574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14710"/>
            <a:ext cx="7471742" cy="1029851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GB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685E6-6CE9-40A8-E14E-DDE7448AE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5510" cy="4493766"/>
          </a:xfrm>
        </p:spPr>
        <p:txBody>
          <a:bodyPr/>
          <a:lstStyle/>
          <a:p>
            <a:pPr marL="228600" indent="-228600" algn="just">
              <a:spcBef>
                <a:spcPts val="0"/>
              </a:spcBef>
              <a:buNone/>
            </a:pPr>
            <a:r>
              <a:rPr lang="en-US" sz="1600" dirty="0">
                <a:latin typeface="Times New Roman"/>
                <a:cs typeface="Times New Roman"/>
              </a:rPr>
              <a:t>This is a network-behaviour verification system rather than a computer-vision one, so the working data is largely operational log data rather than a single downloaded dataset: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Access-point logs: SSID/BSSID association records, RSSI values, timestamps, and client MAC addresses captured from the institution's own Wi-Fi router.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User registration data: registered user IDs mapped to device identifiers, collected once during onboarding.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Historical attendance records: used to tune and validate the RSSI proximity threshold (false-accept / false-reject rate).</a:t>
            </a:r>
          </a:p>
          <a:p>
            <a:pPr marL="228600" indent="-228600" algn="just">
              <a:spcBef>
                <a:spcPts val="600"/>
              </a:spcBef>
              <a:buClr>
                <a:srgbClr val="C0392B"/>
              </a:buClr>
              <a:buFont typeface="Arial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Public benchmark dataset (for validating the localization technique only): UJIIndoorLoc Wi-Fi fingerprint dataset, UCI Machine Learning Repository.</a:t>
            </a:r>
          </a:p>
        </p:txBody>
      </p:sp>
    </p:spTree>
    <p:extLst>
      <p:ext uri="{BB962C8B-B14F-4D97-AF65-F5344CB8AC3E}">
        <p14:creationId xmlns:p14="http://schemas.microsoft.com/office/powerpoint/2010/main" val="353973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266700"/>
            <a:ext cx="7105650" cy="1143000"/>
          </a:xfrm>
        </p:spPr>
        <p:txBody>
          <a:bodyPr/>
          <a:lstStyle/>
          <a:p>
            <a:r>
              <a:rPr lang="en-US" alt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A41E5-A81B-C6E1-3A7B-CEE158A1851D}"/>
              </a:ext>
            </a:extLst>
          </p:cNvPr>
          <p:cNvSpPr txBox="1"/>
          <p:nvPr/>
        </p:nvSpPr>
        <p:spPr>
          <a:xfrm>
            <a:off x="361950" y="978457"/>
            <a:ext cx="8324850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spcBef>
                <a:spcPts val="800"/>
              </a:spcBef>
              <a:buNone/>
            </a:pPr>
            <a:r>
              <a:rPr lang="en-US" sz="1600" dirty="0">
                <a:latin typeface="Times New Roman"/>
                <a:cs typeface="Times New Roman"/>
              </a:rPr>
              <a:t>[1] "WiFi Attend: Real-Time Automated Attendance Management via Wi-Fi," ResearchGate, 2025.</a:t>
            </a:r>
          </a:p>
          <a:p>
            <a:pPr marL="228600" indent="-228600" algn="just">
              <a:spcBef>
                <a:spcPts val="800"/>
              </a:spcBef>
              <a:buNone/>
            </a:pPr>
            <a:r>
              <a:rPr lang="en-US" sz="1600" dirty="0">
                <a:latin typeface="Times New Roman"/>
                <a:cs typeface="Times New Roman"/>
              </a:rPr>
              <a:t>[2] "WiFi Received Signal Strength (RSS) Based Automated Attendance System for Educational Institutions," Proc. 11th Int. Conf. on Networking, Systems and Security (ICNSS), ACM, 2025.</a:t>
            </a:r>
          </a:p>
          <a:p>
            <a:pPr marL="228600" indent="-228600" algn="just">
              <a:spcBef>
                <a:spcPts val="800"/>
              </a:spcBef>
              <a:buNone/>
            </a:pPr>
            <a:r>
              <a:rPr lang="en-US" sz="1600" dirty="0">
                <a:latin typeface="Times New Roman"/>
                <a:cs typeface="Times New Roman"/>
              </a:rPr>
              <a:t>[3] M. Choi, J.-H. Park, and G. Yi, "Attendance Check System and Implementation for Wi-Fi Networks Supporting Unlimited Number of Concurrent Connections," Int. J. Distributed Sensor Networks, 2015.</a:t>
            </a:r>
          </a:p>
          <a:p>
            <a:pPr marL="228600" indent="-228600" algn="just">
              <a:spcBef>
                <a:spcPts val="800"/>
              </a:spcBef>
              <a:buNone/>
            </a:pPr>
            <a:r>
              <a:rPr lang="en-US" sz="1600" dirty="0">
                <a:latin typeface="Times New Roman"/>
                <a:cs typeface="Times New Roman"/>
              </a:rPr>
              <a:t>[4] "UJIIndoorLoc Wi-Fi Fingerprint Dataset," UCI Machine Learning Repository.</a:t>
            </a:r>
          </a:p>
        </p:txBody>
      </p:sp>
    </p:spTree>
    <p:extLst>
      <p:ext uri="{BB962C8B-B14F-4D97-AF65-F5344CB8AC3E}">
        <p14:creationId xmlns:p14="http://schemas.microsoft.com/office/powerpoint/2010/main" val="4118570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4FD0E-A12C-F0BE-161F-17DFD0EA0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0" y="2667000"/>
            <a:ext cx="7772400" cy="1143000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GB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06051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C4095996-9017-488B-9BB7-8994C71F1FD1}" vid="{FBF18B77-D8CC-4E8B-9F48-9B237FDC313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048416D3CBC94F8725FA034D5F6D02" ma:contentTypeVersion="6" ma:contentTypeDescription="Create a new document." ma:contentTypeScope="" ma:versionID="bf8e805d56a217b462bbc18e22a93df8">
  <xsd:schema xmlns:xsd="http://www.w3.org/2001/XMLSchema" xmlns:xs="http://www.w3.org/2001/XMLSchema" xmlns:p="http://schemas.microsoft.com/office/2006/metadata/properties" xmlns:ns2="44e8c714-1e5c-4ddc-8bcd-0e4487288e29" xmlns:ns3="d4a2ac88-98d3-49fe-be44-bf4cdd96e7b7" targetNamespace="http://schemas.microsoft.com/office/2006/metadata/properties" ma:root="true" ma:fieldsID="93fa301c261b92742c3f24164ca51df8" ns2:_="" ns3:_="">
    <xsd:import namespace="44e8c714-1e5c-4ddc-8bcd-0e4487288e29"/>
    <xsd:import namespace="d4a2ac88-98d3-49fe-be44-bf4cdd96e7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e8c714-1e5c-4ddc-8bcd-0e4487288e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a2ac88-98d3-49fe-be44-bf4cdd96e7b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30DC1C-B4BC-4F48-8CC8-EE8DBC526B1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4e8c714-1e5c-4ddc-8bcd-0e4487288e29"/>
    <ds:schemaRef ds:uri="d4a2ac88-98d3-49fe-be44-bf4cdd96e7b7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590CFA-AF37-4502-BD4F-B67FB56DC3E0}">
  <ds:schemaRefs>
    <ds:schemaRef ds:uri="http://www.w3.org/XML/1998/namespace"/>
    <ds:schemaRef ds:uri="http://schemas.microsoft.com/office/2006/metadata/properties"/>
    <ds:schemaRef ds:uri="http://purl.org/dc/elements/1.1/"/>
    <ds:schemaRef ds:uri="44e8c714-1e5c-4ddc-8bcd-0e4487288e29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d4a2ac88-98d3-49fe-be44-bf4cdd96e7b7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3DA17E5-B2A0-4FB7-A3B4-B5B7DF3BE8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1442</TotalTime>
  <Words>1329</Words>
  <Application>Microsoft Office PowerPoint</Application>
  <PresentationFormat>On-screen Show (4:3)</PresentationFormat>
  <Paragraphs>112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Helvetica</vt:lpstr>
      <vt:lpstr>Times New Roman</vt:lpstr>
      <vt:lpstr>Wingdings 2</vt:lpstr>
      <vt:lpstr>Theme1</vt:lpstr>
      <vt:lpstr>   </vt:lpstr>
      <vt:lpstr>Contents</vt:lpstr>
      <vt:lpstr>Problem Statement</vt:lpstr>
      <vt:lpstr>Objective</vt:lpstr>
      <vt:lpstr>PowerPoint Presentation</vt:lpstr>
      <vt:lpstr>1</vt:lpstr>
      <vt:lpstr>2</vt:lpstr>
      <vt:lpstr>3</vt:lpstr>
      <vt:lpstr>Existing Block Diagram</vt:lpstr>
      <vt:lpstr>Proposed Block Diagram</vt:lpstr>
      <vt:lpstr>Module Description</vt:lpstr>
      <vt:lpstr>Requirements</vt:lpstr>
      <vt:lpstr>Dataset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</dc:title>
  <dc:creator>ABHISHEKPRABHU  B</dc:creator>
  <cp:lastModifiedBy>727623BAD086 SRI SURYAKRISHNA  M</cp:lastModifiedBy>
  <cp:revision>56</cp:revision>
  <dcterms:created xsi:type="dcterms:W3CDTF">2024-04-15T17:11:20Z</dcterms:created>
  <dcterms:modified xsi:type="dcterms:W3CDTF">2026-07-29T05:46:57Z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1033-10.2.0.7635</vt:lpwstr>
  </property>
  <property fmtid="{D5CDD505-2E9C-101B-9397-08002B2CF9AE}" pid="3" name="ContentTypeId">
    <vt:lpwstr>0x0101006E048416D3CBC94F8725FA034D5F6D02</vt:lpwstr>
  </property>
</Properties>
</file>