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22"/>
  </p:notesMasterIdLst>
  <p:sldIdLst>
    <p:sldId id="257" r:id="rId5"/>
    <p:sldId id="258" r:id="rId6"/>
    <p:sldId id="259" r:id="rId7"/>
    <p:sldId id="284" r:id="rId8"/>
    <p:sldId id="261" r:id="rId9"/>
    <p:sldId id="364" r:id="rId10"/>
    <p:sldId id="383" r:id="rId11"/>
    <p:sldId id="384" r:id="rId12"/>
    <p:sldId id="385" r:id="rId13"/>
    <p:sldId id="386" r:id="rId14"/>
    <p:sldId id="379" r:id="rId15"/>
    <p:sldId id="382" r:id="rId16"/>
    <p:sldId id="370" r:id="rId17"/>
    <p:sldId id="375" r:id="rId18"/>
    <p:sldId id="372" r:id="rId19"/>
    <p:sldId id="360" r:id="rId20"/>
    <p:sldId id="357" r:id="rId21"/>
  </p:sldIdLst>
  <p:sldSz cx="9144000" cy="6858000" type="screen4x3"/>
  <p:notesSz cx="6858000" cy="9144000"/>
  <p:defaultTextStyle>
    <a:defPPr>
      <a:defRPr lang="en-GB"/>
    </a:defPPr>
    <a:lvl1pPr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ndiarajan S" initials="PS" lastIdx="1" clrIdx="0">
    <p:extLst>
      <p:ext uri="{19B8F6BF-5375-455C-9EA6-DF929625EA0E}">
        <p15:presenceInfo xmlns:p15="http://schemas.microsoft.com/office/powerpoint/2012/main" userId="196cd90fae0857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88140" autoAdjust="0"/>
  </p:normalViewPr>
  <p:slideViewPr>
    <p:cSldViewPr>
      <p:cViewPr varScale="1">
        <p:scale>
          <a:sx n="111" d="100"/>
          <a:sy n="111" d="100"/>
        </p:scale>
        <p:origin x="1536" y="9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  <a:pPr>
                <a:defRPr/>
              </a:pPr>
              <a:t>7/29/2026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4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2A3619-0F3E-409F-8BBC-62CAA7C845C7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683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" name="Google Shape;4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55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2A3619-0F3E-409F-8BBC-62CAA7C845C7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0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2606-924F-99E9-B71C-F739B9EC7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0D731-2D06-19CE-3144-B3DC1C4D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8CBA0-107D-126C-4DF4-6CB0728D7F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0DA47-AA85-4113-8BA5-D82FC3117FCA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7E39C-1A2C-8FAD-5407-E1B03AF4BF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C1003-D6E9-B283-84C0-D98CF0A39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D89DD-81C4-4E6B-AFEA-7492BED30D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0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D9A9-00DD-E506-9757-AFE757D0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D1D73-D6BC-81A2-1B3C-B613A6D33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A7708-B413-D1B8-E878-FDB9DBDE43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31751-9496-4BF2-9067-66A42BE870C6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44E7-9278-E11E-F29C-9193B34FC1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94053-6CAD-8B08-B2BF-6F11AABDA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E1BA5-2B3A-4BA0-82C4-250B1E03B9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A519-148D-FB6F-70E2-19E8E977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79899-D5BD-D834-C909-B2ED0AD70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63CB-79ED-02FE-47EF-AD4CDA750D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629F0-3719-4D2F-8438-3FAAE0C2D2B0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0026-AF33-42BE-3E9D-1CDE4CA77A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14F2-9E55-E259-04C7-58A82DA7A0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D520F-C50B-47BE-919C-C536996A22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50F2-B95B-D839-908E-94D0BB7D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81E0-3C67-B4E9-38DF-FC82C4F75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501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87D34-363D-BF6D-C137-10E57B758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7960" y="1825625"/>
            <a:ext cx="388620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60098-8863-A93E-C9A7-FD90EE033D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99052-730E-436E-A588-B5DB9304D0CC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F666E-CABC-4828-69F3-9FD69BB9DD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200AA-B4A0-9D08-AC03-1FA3E0654C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76205-8481-4410-854E-4E65F0EAD3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2F4D-A3ED-AC44-9024-540AEFDB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0B0B1-7CA3-3075-DDF2-387559E2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4C158-5E53-6AE7-FDE0-4067C2FA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D5C8-32BE-9607-D506-58B5A3392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952B7-BFBC-116E-5743-ACEA62977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889DA-0610-6520-AFEC-C3EDE351C8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56962-B654-47BB-B7DA-894D11C2316F}" type="datetime1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13F47-19A9-3578-2C24-EB387FC174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8066B-20E9-F17D-DD79-CA1123F45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84B84-5CB0-42B5-A7C1-8F6F1B611DD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A63D-F1CE-B16F-1E91-60408292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0A1CC-4293-109C-E17C-EE0BE19DBF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EA84F-4CD7-49A6-962F-2A72CBDDE22E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86BA7-3B8B-5EB7-CEAE-FE4D207562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99B9A-8663-21F5-5B82-5A223EDC9D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03558-3183-467E-979E-874438A366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FEF93-3AB2-BB1D-7E37-B039B8CB31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8ABD5-83CA-4BE3-A62B-8B76039B6E95}" type="datetime1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C2C49-5D10-71DA-6620-EB964F8416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BF2B6-FD9E-5B43-69E9-947F034E71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ECD8-2D72-4EB1-90BF-B7129A01E2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1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30DA-94FE-77E3-0D6F-2A7CC17C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F0C4-EB0A-61E3-4BB2-118AE7FD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3268D-AFEB-D74B-AD82-652823696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FA495-E293-507E-1D9B-064ABF4045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3980E-60BB-48E1-853D-8ED2FA3DE18D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A4923-E892-065B-A0EF-40D738DFA3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FB2F4-E512-C6E4-DA67-0AA4A19D29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2FCE7-E60B-4AB4-93A7-EA35125EBB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0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9FC8-E5F1-A221-6D13-A1C986DD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DB15E-DFE4-9668-F9A1-587F4A75A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802DA-6ECD-7199-C703-95DFE2A68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0C4C6-282B-4B42-EA02-822FB2D907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3CD49-5A01-4325-A9A9-F900104E31B1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0F028-0FC8-9F64-8662-EB29905697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6AFF1-6E32-D4CA-10AA-33575A3D1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E6F8F-77F3-49D3-92DB-54C5A5D7E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D095-C5BB-EA58-B7F4-35F01DE6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9A28B-6455-6D06-A54A-0662CFC98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17B5-ED7F-B353-647E-A7E81D5347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ADDA-C62F-42E5-A07E-C575AC697937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68954-7BE7-89A5-C260-34BF604ECB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120B-82B9-4AD4-F613-6392C50119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ED7A0-3F6B-46DF-823D-1CE0DBD630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6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11BA4-B497-1100-63E1-89C664207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0485" cy="5810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D3C56-68A0-31E6-3D61-A4F11B545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0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A7730-8A72-6BDA-DFC7-6ECFD6C666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3F6D3-90B6-434C-822F-0A5F19FCD7B7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749A-0B8A-54B6-1C40-D251DA6C34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1B874-0F02-23B8-4E69-998C7F9E5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6FB47-3F90-442C-8F17-A1D13EE195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C9243247-00EB-1CE4-7823-B159A0384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6"/>
            <a:ext cx="788551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formatClick to edit Master title style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D4912CDA-5DCE-5D37-FDBC-F9EB07878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5510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0"/>
            <a:r>
              <a:rPr lang="en-GB" altLang="en-US"/>
              <a:t>Ninth Outline LevelClick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2E01FF-B5E5-CFAA-F2CA-42C801877DA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628650" y="6356350"/>
            <a:ext cx="20562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920D19BA-AE93-40C6-AA9F-F5CD638A8BC8}" type="datetime1">
              <a:rPr lang="en-US" smtClean="0"/>
              <a:t>7/29/2026</a:t>
            </a:fld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113BE5-0EAC-89EB-A65C-70FF055B435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028950" y="6356350"/>
            <a:ext cx="30849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B8DB239-42A4-86C2-C058-8BDF964E180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457950" y="6356350"/>
            <a:ext cx="20562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6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557213" indent="-214313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8572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2001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15430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18859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2288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25717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29146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257175" indent="-257175" algn="l" defTabSz="342900" rtl="0" eaLnBrk="1" fontAlgn="base" hangingPunct="1">
        <a:lnSpc>
          <a:spcPct val="92000"/>
        </a:lnSpc>
        <a:spcBef>
          <a:spcPct val="0"/>
        </a:spcBef>
        <a:spcAft>
          <a:spcPts val="1069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fontAlgn="base" hangingPunct="1">
        <a:lnSpc>
          <a:spcPct val="92000"/>
        </a:lnSpc>
        <a:spcBef>
          <a:spcPct val="0"/>
        </a:spcBef>
        <a:spcAft>
          <a:spcPts val="854"/>
        </a:spcAft>
        <a:buClr>
          <a:srgbClr val="000000"/>
        </a:buClr>
        <a:buSzPct val="100000"/>
        <a:buFont typeface="Times New Roman" panose="02020603050405020304" pitchFamily="18" charset="0"/>
        <a:defRPr sz="15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431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216"/>
        </a:spcAft>
        <a:buClr>
          <a:srgbClr val="000000"/>
        </a:buClr>
        <a:buSzPct val="100000"/>
        <a:buFont typeface="Times New Roman" panose="02020603050405020304" pitchFamily="18" charset="0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080963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04071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ontiersin.org/journals/artificial-intelligence/articles/10.3389/frai.2025.1625891/ful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220098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354120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9648" y="1921749"/>
            <a:ext cx="8776888" cy="4579235"/>
          </a:xfrm>
        </p:spPr>
        <p:txBody>
          <a:bodyPr anchor="ctr">
            <a:normAutofit fontScale="25000" lnSpcReduction="20000"/>
          </a:bodyPr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  : 09</a:t>
            </a:r>
          </a:p>
          <a:p>
            <a:pPr marL="0" indent="0" algn="just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	    : Cybersecurity – Network Security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Title	    : </a:t>
            </a:r>
            <a:r>
              <a:rPr lang="en-US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Adaptive Digital Twin Driven Neuro-Symbolic    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US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Continual Learning IDS (ADT-NSCL)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	    : Ms. Tamil Selvi K</a:t>
            </a:r>
          </a:p>
          <a:p>
            <a:pPr marL="0" indent="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</a:t>
            </a: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buNone/>
              <a:tabLst>
                <a:tab pos="1600200" algn="l"/>
              </a:tabLst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tabLst>
                <a:tab pos="2971800" algn="l"/>
              </a:tabLst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P.K. Sachin	(</a:t>
            </a:r>
            <a:r>
              <a:rPr lang="en-IN" sz="9600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727623BAD098</a:t>
            </a: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lang="x-none" alt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tabLst>
                <a:tab pos="2971800" algn="l"/>
              </a:tabLst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N.Gokulakrishnan	(</a:t>
            </a:r>
            <a:r>
              <a:rPr lang="en-IN" sz="9600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727623BAD054</a:t>
            </a: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tabLst>
                <a:tab pos="2971800" algn="l"/>
              </a:tabLst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N.Manivel	(</a:t>
            </a:r>
            <a:r>
              <a:rPr lang="en-IN" sz="9600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727623BAD102</a:t>
            </a: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defRPr/>
            </a:pP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8">
              <a:buFontTx/>
              <a:buNone/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				</a:t>
            </a:r>
          </a:p>
          <a:p>
            <a:pPr lvl="8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366" y="457200"/>
            <a:ext cx="7163267" cy="1738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Mahalingam College of Engineering &amp; Technology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23ADP701-PROJECT PHASE-1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328B62-390F-8BB9-EF5F-43200B98305F}"/>
              </a:ext>
            </a:extLst>
          </p:cNvPr>
          <p:cNvSpPr txBox="1">
            <a:spLocks/>
          </p:cNvSpPr>
          <p:nvPr/>
        </p:nvSpPr>
        <p:spPr bwMode="auto">
          <a:xfrm>
            <a:off x="914400" y="1246076"/>
            <a:ext cx="7772400" cy="4365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Identified and Findings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Block Diagram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Diagram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7885510" cy="676051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34778"/>
            <a:ext cx="7930896" cy="4724400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enterprise networks generate massive, heterogeneous traffic and are increasingly targeted by botnets, DDoS, spoofing and reconnaissance attacks despite firewalls and perimeter defenses.</a:t>
            </a:r>
          </a:p>
          <a:p>
            <a:pPr marL="457200" indent="-457200" algn="just">
              <a:lnSpc>
                <a:spcPct val="1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network traffic logs are highly imbalanced – benign traffic vastly outnumbers attack samples – causing conventional ML models to be biased toward the majority class and to miss rare but critical attacks.</a:t>
            </a:r>
          </a:p>
          <a:p>
            <a:pPr marL="457200" indent="-457200" algn="just">
              <a:lnSpc>
                <a:spcPct val="1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signature-based Intrusion Detection Systems (IDS) cannot adapt to zero-day and evolving attack patterns, resulting in high false-negative rates.</a:t>
            </a:r>
          </a:p>
          <a:p>
            <a:pPr marL="457200" indent="-457200" algn="just">
              <a:lnSpc>
                <a:spcPct val="1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largely operate in batch mode and are not optimized for the real-time, high-throughput nature of live network log streams.</a:t>
            </a:r>
          </a:p>
          <a:p>
            <a:pPr marL="457200" indent="-457200" algn="just">
              <a:lnSpc>
                <a:spcPct val="1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Machine Learning / Deep Learning based IDS that can handle class imbalance, generalize to unseen attacks, and operate with low latency on live network traffic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"/>
          <p:cNvSpPr txBox="1">
            <a:spLocks noGrp="1"/>
          </p:cNvSpPr>
          <p:nvPr>
            <p:ph type="title"/>
          </p:nvPr>
        </p:nvSpPr>
        <p:spPr>
          <a:xfrm>
            <a:off x="680490" y="548680"/>
            <a:ext cx="7783017" cy="1039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spcFirstLastPara="1" vert="horz" wrap="square" lIns="68569" tIns="34275" rIns="68569" bIns="68569" numCol="1" anchor="b" anchorCtr="0" compatLnSpc="1"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Objective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05;p19">
            <a:extLst>
              <a:ext uri="{FF2B5EF4-FFF2-40B4-BE49-F238E27FC236}">
                <a16:creationId xmlns:a16="http://schemas.microsoft.com/office/drawing/2014/main" id="{7F7FF909-017A-4C6F-B15B-ACD61E4D0805}"/>
              </a:ext>
            </a:extLst>
          </p:cNvPr>
          <p:cNvSpPr txBox="1">
            <a:spLocks/>
          </p:cNvSpPr>
          <p:nvPr/>
        </p:nvSpPr>
        <p:spPr>
          <a:xfrm>
            <a:off x="680491" y="1797103"/>
            <a:ext cx="7783017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457200" marR="0" lvl="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400"/>
              <a:buFont typeface="Times New Roman"/>
              <a:buChar char="●"/>
              <a:defRPr sz="1800" b="0" i="0" u="none" strike="noStrike" cap="none">
                <a:latin typeface="Helvetica" panose="020B0604020202020204" pitchFamily="34" charset="0"/>
                <a:ea typeface="Libre Baskerville"/>
                <a:cs typeface="Helvetica" panose="020B0604020202020204" pitchFamily="34" charset="0"/>
              </a:defRPr>
            </a:lvl1pPr>
            <a:lvl2pPr marL="914400" marR="0" lvl="1" indent="-325755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2pPr>
            <a:lvl3pPr marL="1371600" marR="0" lvl="2" indent="-325755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53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3pPr>
            <a:lvl4pPr marL="1828800" marR="0" lvl="3" indent="-320039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44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4pPr>
            <a:lvl5pPr marL="2286000" marR="0" lvl="4" indent="-34290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8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5pPr>
            <a:lvl6pPr marL="2743200" marR="0" lvl="5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6pPr>
            <a:lvl7pPr marL="3200400" marR="0" lvl="6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7pPr>
            <a:lvl8pPr marL="3657600" marR="0" lvl="7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8pPr>
            <a:lvl9pPr marL="4114800" marR="0" lvl="8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9pPr>
          </a:lstStyle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cyber attack detection system using deep learning.</a:t>
            </a: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detecting known and unknown cyber attacks.</a:t>
            </a: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false alarms using an adaptive intelligent detection model.</a:t>
            </a: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cyber attacks at an early stage by analyzing network behavior.</a:t>
            </a: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update the model to identify new attack patterns without complete 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retraining.</a:t>
            </a: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system using standard cybersecurity datasets and real-time network traffic.</a:t>
            </a:r>
          </a:p>
        </p:txBody>
      </p:sp>
    </p:spTree>
    <p:extLst>
      <p:ext uri="{BB962C8B-B14F-4D97-AF65-F5344CB8AC3E}">
        <p14:creationId xmlns:p14="http://schemas.microsoft.com/office/powerpoint/2010/main" val="122395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1530AF-8868-5311-71C9-138D48DF00D5}"/>
              </a:ext>
            </a:extLst>
          </p:cNvPr>
          <p:cNvSpPr txBox="1">
            <a:spLocks/>
          </p:cNvSpPr>
          <p:nvPr/>
        </p:nvSpPr>
        <p:spPr bwMode="auto">
          <a:xfrm>
            <a:off x="615315" y="2362200"/>
            <a:ext cx="8033385" cy="1592580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Identified and Findings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82A0-6D8E-8087-42B4-FB2199A6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7F52-CCB0-337B-A69C-38310FB1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Real-Time Network Intrusion Detection Using Machine Learning and Deep Learning</a:t>
            </a:r>
          </a:p>
          <a:p>
            <a:pPr marL="457200" indent="-457200" algn="just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IEEE Xplore 2025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real-time binary classifier that flags network traffic as "Anomalous" or "Normal" using key flow features such as srv_serror_rate and rerror_rate.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Neural Networks, K-Nearest Neighbors, Random Forest and Naive Bayes on Accuracy, Precision, Recall and F1-score.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radar plots, confusion matrices and ROC curves to visually assess model stability and real-world deployability.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D1BB5D-779F-BD18-C3AA-E09BCB070BDA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Paper – IEEE Xplore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9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8DD4-EB7A-FC3F-B92A-4AB22B56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4D19-D8DC-B617-AF77-1E68B4B1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6A52-8E3D-F8A4-A28E-F58AEF0E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Intrusion Detection System Based on Deep Learning</a:t>
            </a:r>
          </a:p>
          <a:p>
            <a:pPr marL="457200" indent="-457200" algn="just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IEEE ICSESS 2019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Apache Flume for real-time massive log collection and Apache Flink as the real-time stream computation engine.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an autoencoder-based dimension reduction method to handle high-dimensional network traffic features.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big-data and NLP-based preprocessing with deep learning to improve efficiency over traditional signature-based IDS.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5A9733-BDC0-FB29-8341-802B2CE1DF99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Paper – IEEE Xplore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8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021-FB1F-B24E-7679-018067F0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FA4D-65B1-F742-E5FB-080CB174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19EF-0D4A-4936-BC14-56AF9CB7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/ Machine Learning Approach for Anomaly-Based Network Intrusion Detection</a:t>
            </a:r>
          </a:p>
          <a:p>
            <a:pPr marL="457200" indent="-457200" algn="just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Frontiers in AI 2025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XGBoost, Random Forest, Graph Neural Networks, LSTM and Autoencoders into a hybrid anomaly-based intrusion detection system.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and evaluated on the CIC-IDS2017 dataset, spanning over 5.6 million real network traffic records.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SMOTE to correct class imbalance between benign and attack traffic, improving minority-class detection.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73F8AD-E620-48D0-594A-582919D8D2A1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Paper – IEEE Xplore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2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021-FB1F-B24E-7679-018067F0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FA4D-65B1-F742-E5FB-080CB174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19EF-0D4A-4936-BC14-56AF9CB7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 Using Stream Analytics and Deep Learning on Network Logs</a:t>
            </a:r>
          </a:p>
          <a:p>
            <a:pPr marL="457200" indent="-457200" algn="just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IEEE ICBDSE 2025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Apache Kafka (ingestion) and Apache Flink (stream analytics) with LSTM and 1D-CNN models.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on CIC-IDS2017 and UNSW-NB15 benchmark datasets.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high-accuracy, low-latency threat detection while maintaining scalability under high-throughput conditions.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73F8AD-E620-48D0-594A-582919D8D2A1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Paper – IEEE Xplore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2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021-FB1F-B24E-7679-018067F0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FA4D-65B1-F742-E5FB-080CB174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19EF-0D4A-4936-BC14-56AF9CB7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RIDE: Real-Time Intrusion Detection via Explainable Machine Learning in a Memristor Hardware Architecture</a:t>
            </a:r>
          </a:p>
          <a:p>
            <a:pPr marL="457200" indent="-457200" algn="just">
              <a:buClr>
                <a:srgbClr val="FF000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IEEE DSC 2023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recurrent autoencoders to compress variable-length packet sequences into a compact feature embedding for a DNN classifier.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learned detection policies into decision trees for explainability, implemented on memristor-based hardware for microsecond-level speed.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near three-nines detection accuracy on UNSW-NB15 and CIC-IDS benchmark datasets with major inference speedups.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73F8AD-E620-48D0-594A-582919D8D2A1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Paper – IEEE Xplore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2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3E3B-D80E-EA66-6343-57741B5C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Block Diagram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Block 1"/>
          <p:cNvSpPr/>
          <p:nvPr/>
        </p:nvSpPr>
        <p:spPr>
          <a:xfrm>
            <a:off x="1828800" y="1412776"/>
            <a:ext cx="54864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</a:t>
            </a:r>
          </a:p>
        </p:txBody>
      </p:sp>
      <p:cxnSp>
        <p:nvCxnSpPr>
          <p:cNvPr id="101" name="Arrow 1"/>
          <p:cNvCxnSpPr/>
          <p:nvPr/>
        </p:nvCxnSpPr>
        <p:spPr>
          <a:xfrm>
            <a:off x="4572000" y="2092776"/>
            <a:ext cx="0" cy="280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Block 2"/>
          <p:cNvSpPr/>
          <p:nvPr/>
        </p:nvSpPr>
        <p:spPr>
          <a:xfrm>
            <a:off x="1828800" y="2372776"/>
            <a:ext cx="54864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</a:t>
            </a:r>
          </a:p>
        </p:txBody>
      </p:sp>
      <p:cxnSp>
        <p:nvCxnSpPr>
          <p:cNvPr id="103" name="Arrow 2"/>
          <p:cNvCxnSpPr/>
          <p:nvPr/>
        </p:nvCxnSpPr>
        <p:spPr>
          <a:xfrm>
            <a:off x="4572000" y="3052776"/>
            <a:ext cx="0" cy="280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Block 3"/>
          <p:cNvSpPr/>
          <p:nvPr/>
        </p:nvSpPr>
        <p:spPr>
          <a:xfrm>
            <a:off x="1828800" y="3332776"/>
            <a:ext cx="54864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cxnSp>
        <p:nvCxnSpPr>
          <p:cNvPr id="105" name="Arrow 3"/>
          <p:cNvCxnSpPr/>
          <p:nvPr/>
        </p:nvCxnSpPr>
        <p:spPr>
          <a:xfrm>
            <a:off x="4572000" y="4012776"/>
            <a:ext cx="0" cy="280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Block 4"/>
          <p:cNvSpPr/>
          <p:nvPr/>
        </p:nvSpPr>
        <p:spPr>
          <a:xfrm>
            <a:off x="1828800" y="4292776"/>
            <a:ext cx="54864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Signature / Rule-Based Detection Engine</a:t>
            </a:r>
          </a:p>
        </p:txBody>
      </p:sp>
      <p:cxnSp>
        <p:nvCxnSpPr>
          <p:cNvPr id="107" name="Arrow 4"/>
          <p:cNvCxnSpPr/>
          <p:nvPr/>
        </p:nvCxnSpPr>
        <p:spPr>
          <a:xfrm>
            <a:off x="4572000" y="4972776"/>
            <a:ext cx="0" cy="280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Block 5"/>
          <p:cNvSpPr/>
          <p:nvPr/>
        </p:nvSpPr>
        <p:spPr>
          <a:xfrm>
            <a:off x="1828800" y="5252776"/>
            <a:ext cx="54864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</a:t>
            </a:r>
          </a:p>
        </p:txBody>
      </p:sp>
    </p:spTree>
    <p:extLst>
      <p:ext uri="{BB962C8B-B14F-4D97-AF65-F5344CB8AC3E}">
        <p14:creationId xmlns:p14="http://schemas.microsoft.com/office/powerpoint/2010/main" val="131117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AA14-9B0C-E07F-7C64-A8E9DDEF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227F-2AF3-0F9C-F285-AA168B4A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Diagram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Block 1"/>
          <p:cNvSpPr/>
          <p:nvPr/>
        </p:nvSpPr>
        <p:spPr>
          <a:xfrm>
            <a:off x="1828800" y="1340768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Logs (Streaming)</a:t>
            </a:r>
          </a:p>
        </p:txBody>
      </p:sp>
      <p:cxnSp>
        <p:nvCxnSpPr>
          <p:cNvPr id="101" name="Arrow 1"/>
          <p:cNvCxnSpPr/>
          <p:nvPr/>
        </p:nvCxnSpPr>
        <p:spPr>
          <a:xfrm>
            <a:off x="4572000" y="1907696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Block 2"/>
          <p:cNvSpPr/>
          <p:nvPr/>
        </p:nvSpPr>
        <p:spPr>
          <a:xfrm>
            <a:off x="1828800" y="2136296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</p:txBody>
      </p:sp>
      <p:cxnSp>
        <p:nvCxnSpPr>
          <p:cNvPr id="103" name="Arrow 2"/>
          <p:cNvCxnSpPr/>
          <p:nvPr/>
        </p:nvCxnSpPr>
        <p:spPr>
          <a:xfrm>
            <a:off x="4572000" y="2703224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Block 3"/>
          <p:cNvSpPr/>
          <p:nvPr/>
        </p:nvSpPr>
        <p:spPr>
          <a:xfrm>
            <a:off x="1828800" y="2931824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 Handling (SMOTE / Hybrid Sampling)</a:t>
            </a:r>
          </a:p>
        </p:txBody>
      </p:sp>
      <p:cxnSp>
        <p:nvCxnSpPr>
          <p:cNvPr id="105" name="Arrow 3"/>
          <p:cNvCxnSpPr/>
          <p:nvPr/>
        </p:nvCxnSpPr>
        <p:spPr>
          <a:xfrm>
            <a:off x="4572000" y="3498752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Block 4"/>
          <p:cNvSpPr/>
          <p:nvPr/>
        </p:nvSpPr>
        <p:spPr>
          <a:xfrm>
            <a:off x="1828800" y="3727352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/ DL Classification (RF, XGBoost, LSTM + Attention)</a:t>
            </a:r>
          </a:p>
        </p:txBody>
      </p:sp>
      <p:cxnSp>
        <p:nvCxnSpPr>
          <p:cNvPr id="107" name="Arrow 4"/>
          <p:cNvCxnSpPr/>
          <p:nvPr/>
        </p:nvCxnSpPr>
        <p:spPr>
          <a:xfrm>
            <a:off x="4572000" y="4294280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Block 5"/>
          <p:cNvSpPr/>
          <p:nvPr/>
        </p:nvSpPr>
        <p:spPr>
          <a:xfrm>
            <a:off x="1828800" y="4522880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 Analytics (Kafka + Flink)</a:t>
            </a:r>
          </a:p>
        </p:txBody>
      </p:sp>
      <p:cxnSp>
        <p:nvCxnSpPr>
          <p:cNvPr id="109" name="Arrow 5"/>
          <p:cNvCxnSpPr/>
          <p:nvPr/>
        </p:nvCxnSpPr>
        <p:spPr>
          <a:xfrm>
            <a:off x="4572000" y="5089808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Block 6"/>
          <p:cNvSpPr/>
          <p:nvPr/>
        </p:nvSpPr>
        <p:spPr>
          <a:xfrm>
            <a:off x="1828800" y="5318408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Alert &amp; Visualization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651542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83" y="44624"/>
            <a:ext cx="7772400" cy="1143000"/>
          </a:xfrm>
          <a:noFill/>
          <a:ln w="9525">
            <a:noFill/>
            <a:miter lim="800000"/>
          </a:ln>
        </p:spPr>
        <p:txBody>
          <a:bodyPr spcFirstLastPara="1" vert="horz" wrap="square" lIns="68569" tIns="34275" rIns="68569" bIns="68569" numCol="1" anchor="b" anchorCtr="0" compatLnSpc="1">
            <a:noAutofit/>
          </a:bodyPr>
          <a:lstStyle/>
          <a:p>
            <a:r>
              <a:rPr lang="en-US" alt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x-none" alt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8C74C-D4E7-5ECB-CA61-03B7633AC1B5}"/>
              </a:ext>
            </a:extLst>
          </p:cNvPr>
          <p:cNvSpPr txBox="1"/>
          <p:nvPr/>
        </p:nvSpPr>
        <p:spPr>
          <a:xfrm>
            <a:off x="539552" y="1187624"/>
            <a:ext cx="7772400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Ingestion &amp; Preprocessing Module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network log traffic, cleans and normalizes the data, and encodes categorical features for downstream processing.</a:t>
            </a:r>
          </a:p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Imbalance Handling Module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hybrid sampling (e.g., SMOTE, cost-sensitive learning) to correct the skew between benign and attack classes.</a:t>
            </a:r>
          </a:p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Classification Module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and evaluates ML models (Random Forest, XGBoost) and DL models (LSTM with attention) to classify traffic as benign or attack type.</a:t>
            </a:r>
          </a:p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Real-Time Detection &amp; Alert Module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Streams live traffic through the trained model using Kafka/Flink and raises alerts on detected intrusions via a dashboard.</a:t>
            </a:r>
          </a:p>
        </p:txBody>
      </p:sp>
    </p:spTree>
    <p:extLst>
      <p:ext uri="{BB962C8B-B14F-4D97-AF65-F5344CB8AC3E}">
        <p14:creationId xmlns:p14="http://schemas.microsoft.com/office/powerpoint/2010/main" val="3712612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266700"/>
            <a:ext cx="7105650" cy="1143000"/>
          </a:xfrm>
        </p:spPr>
        <p:txBody>
          <a:bodyPr/>
          <a:lstStyle/>
          <a:p>
            <a:r>
              <a:rPr lang="en-US" alt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quirements Content"/>
          <p:cNvSpPr txBox="1"/>
          <p:nvPr/>
        </p:nvSpPr>
        <p:spPr>
          <a:xfrm>
            <a:off x="606552" y="1500000"/>
            <a:ext cx="7930896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(or higher) / equivalent AMD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minimum (16 GB recommended for DL training)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GPU with CUDA support (recommended for LSTM training)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 free disk space</a:t>
            </a:r>
          </a:p>
          <a:p>
            <a:pPr algn="l"/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 or Linux (Ubuntu)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3.9+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Scikit-learn, XGBoost, TensorFlow / PyTorch, Pandas, NumPy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Tools: Apache Kafka, Apache Flink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Jupyter Notebook / VS Code</a:t>
            </a:r>
          </a:p>
        </p:txBody>
      </p:sp>
    </p:spTree>
    <p:extLst>
      <p:ext uri="{BB962C8B-B14F-4D97-AF65-F5344CB8AC3E}">
        <p14:creationId xmlns:p14="http://schemas.microsoft.com/office/powerpoint/2010/main" val="384000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8045-6085-433B-DC7F-4047E257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4710"/>
            <a:ext cx="7471742" cy="1029851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85E6-6CE9-40A8-E14E-DDE7448A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5510" cy="4493766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NSL-KDD – Refined version of the classic KDD Cup 1999 dataset, widely used for benchmarking IDS across DoS, Probe, R2L and U2R attack categories.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CIC-IDS2017 – Benchmark network intrusion dataset with realistic benign and attack traffic (Botnet, DDoS, Infiltration, Web Attacks) captured over 5 days.</a:t>
            </a:r>
          </a:p>
          <a:p>
            <a:pPr marL="457200" indent="-4572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UNSW-NB15 – Hybrid dataset combining real modern normal traffic with synthetic contemporary attack behaviors across 9 attack categories.</a:t>
            </a:r>
          </a:p>
        </p:txBody>
      </p:sp>
    </p:spTree>
    <p:extLst>
      <p:ext uri="{BB962C8B-B14F-4D97-AF65-F5344CB8AC3E}">
        <p14:creationId xmlns:p14="http://schemas.microsoft.com/office/powerpoint/2010/main" val="353973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266700"/>
            <a:ext cx="7105650" cy="1143000"/>
          </a:xfrm>
        </p:spPr>
        <p:txBody>
          <a:bodyPr/>
          <a:lstStyle/>
          <a:p>
            <a:r>
              <a:rPr lang="en-US" alt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A41E5-A81B-C6E1-3A7B-CEE158A1851D}"/>
              </a:ext>
            </a:extLst>
          </p:cNvPr>
          <p:cNvSpPr txBox="1"/>
          <p:nvPr/>
        </p:nvSpPr>
        <p:spPr>
          <a:xfrm>
            <a:off x="361950" y="978457"/>
            <a:ext cx="832485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“AI-Driven Real-Time Network Intrusion Detection Using Machine Learning and Deep Learning,” IEEE Xplore, 2025.</a:t>
            </a:r>
          </a:p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Y. Dong, R. Wang, and J. He, “Real-Time Network Intrusion Detection System Based on Deep Learning,” in Proc. 2019 IEEE 10th Int. Conf. on Software Engineering and Service Science (ICSESS), 2019.</a:t>
            </a:r>
          </a:p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Almuhanna and S. Dardouri, “A Deep Learning/Machine Learning Approach for Anomaly Based Network Intrusion Detection,” Frontiers in Artificial Intelligence, vol. 8, 2025.</a:t>
            </a:r>
          </a:p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“Real-Time Threat Detection Using Stream Analytics and Deep Learning on Network Logs,” in Proc. 2025 IEEE 2nd Int. Conf. on Big Data Science and Engineering (ICBDSE), 2025.</a:t>
            </a:r>
          </a:p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Chen, L. Zhang, J. Riem, G. Adam, N. D. Bastian, and T. Lan, “RIDE: Real-Time Intrusion Detection via Explainable Machine Learning Implemented in a Memristor Hardware Architecture,” in Proc. 2023 IEEE Conf. on Dependable and Secure Computing (DSC), 2023.</a:t>
            </a:r>
          </a:p>
        </p:txBody>
      </p:sp>
    </p:spTree>
    <p:extLst>
      <p:ext uri="{BB962C8B-B14F-4D97-AF65-F5344CB8AC3E}">
        <p14:creationId xmlns:p14="http://schemas.microsoft.com/office/powerpoint/2010/main" val="4118570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FD0E-A12C-F0BE-161F-17DFD0EA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2667000"/>
            <a:ext cx="77724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6051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C4095996-9017-488B-9BB7-8994C71F1FD1}" vid="{FBF18B77-D8CC-4E8B-9F48-9B237FDC31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048416D3CBC94F8725FA034D5F6D02" ma:contentTypeVersion="6" ma:contentTypeDescription="Create a new document." ma:contentTypeScope="" ma:versionID="bf8e805d56a217b462bbc18e22a93df8">
  <xsd:schema xmlns:xsd="http://www.w3.org/2001/XMLSchema" xmlns:xs="http://www.w3.org/2001/XMLSchema" xmlns:p="http://schemas.microsoft.com/office/2006/metadata/properties" xmlns:ns2="44e8c714-1e5c-4ddc-8bcd-0e4487288e29" xmlns:ns3="d4a2ac88-98d3-49fe-be44-bf4cdd96e7b7" targetNamespace="http://schemas.microsoft.com/office/2006/metadata/properties" ma:root="true" ma:fieldsID="93fa301c261b92742c3f24164ca51df8" ns2:_="" ns3:_="">
    <xsd:import namespace="44e8c714-1e5c-4ddc-8bcd-0e4487288e29"/>
    <xsd:import namespace="d4a2ac88-98d3-49fe-be44-bf4cdd96e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e8c714-1e5c-4ddc-8bcd-0e4487288e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a2ac88-98d3-49fe-be44-bf4cdd96e7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DA17E5-B2A0-4FB7-A3B4-B5B7DF3BE8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590CFA-AF37-4502-BD4F-B67FB56DC3E0}">
  <ds:schemaRefs>
    <ds:schemaRef ds:uri="http://www.w3.org/XML/1998/namespace"/>
    <ds:schemaRef ds:uri="http://schemas.microsoft.com/office/2006/metadata/properties"/>
    <ds:schemaRef ds:uri="http://purl.org/dc/elements/1.1/"/>
    <ds:schemaRef ds:uri="44e8c714-1e5c-4ddc-8bcd-0e4487288e29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d4a2ac88-98d3-49fe-be44-bf4cdd96e7b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030DC1C-B4BC-4F48-8CC8-EE8DBC526B1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e8c714-1e5c-4ddc-8bcd-0e4487288e29"/>
    <ds:schemaRef ds:uri="d4a2ac88-98d3-49fe-be44-bf4cdd96e7b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1430</TotalTime>
  <Words>1275</Words>
  <Application>Microsoft Office PowerPoint</Application>
  <PresentationFormat>On-screen Show (4:3)</PresentationFormat>
  <Paragraphs>132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Helvetica</vt:lpstr>
      <vt:lpstr>Times New Roman</vt:lpstr>
      <vt:lpstr>Wingdings 2</vt:lpstr>
      <vt:lpstr>Theme1</vt:lpstr>
      <vt:lpstr>   </vt:lpstr>
      <vt:lpstr>Contents</vt:lpstr>
      <vt:lpstr>Problem Statement</vt:lpstr>
      <vt:lpstr>Objective</vt:lpstr>
      <vt:lpstr>PowerPoint Presentation</vt:lpstr>
      <vt:lpstr>1</vt:lpstr>
      <vt:lpstr>2</vt:lpstr>
      <vt:lpstr>3</vt:lpstr>
      <vt:lpstr>4</vt:lpstr>
      <vt:lpstr>5</vt:lpstr>
      <vt:lpstr>Existing Block Diagram</vt:lpstr>
      <vt:lpstr>Proposed Block Diagram</vt:lpstr>
      <vt:lpstr>Module Description</vt:lpstr>
      <vt:lpstr>Requirements</vt:lpstr>
      <vt:lpstr>Dataset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ABHISHEKPRABHU  B</dc:creator>
  <cp:lastModifiedBy>727623BAD086 SRI SURYAKRISHNA  M</cp:lastModifiedBy>
  <cp:revision>58</cp:revision>
  <dcterms:created xsi:type="dcterms:W3CDTF">2024-04-15T17:11:20Z</dcterms:created>
  <dcterms:modified xsi:type="dcterms:W3CDTF">2026-07-29T06:43:13Z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  <property fmtid="{D5CDD505-2E9C-101B-9397-08002B2CF9AE}" pid="3" name="ContentTypeId">
    <vt:lpwstr>0x0101006E048416D3CBC94F8725FA034D5F6D02</vt:lpwstr>
  </property>
</Properties>
</file>